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tma Bold" charset="1" panose="00000000000000000000"/>
      <p:regular r:id="rId16"/>
    </p:embeddedFont>
    <p:embeddedFont>
      <p:font typeface="Roboto Bold" charset="1" panose="02000000000000000000"/>
      <p:regular r:id="rId17"/>
    </p:embeddedFont>
    <p:embeddedFont>
      <p:font typeface="Roboto" charset="1" panose="02000000000000000000"/>
      <p:regular r:id="rId18"/>
    </p:embeddedFont>
    <p:embeddedFont>
      <p:font typeface="Roboto Italics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goubox068.github.io/portfolio-bts-sio/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C6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36569" y="1427017"/>
            <a:ext cx="7014862" cy="7432966"/>
          </a:xfrm>
          <a:custGeom>
            <a:avLst/>
            <a:gdLst/>
            <a:ahLst/>
            <a:cxnLst/>
            <a:rect r="r" b="b" t="t" l="l"/>
            <a:pathLst>
              <a:path h="7432966" w="7014862">
                <a:moveTo>
                  <a:pt x="0" y="0"/>
                </a:moveTo>
                <a:lnTo>
                  <a:pt x="7014862" y="0"/>
                </a:lnTo>
                <a:lnTo>
                  <a:pt x="7014862" y="7432966"/>
                </a:lnTo>
                <a:lnTo>
                  <a:pt x="0" y="743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06176">
            <a:off x="4485668" y="4446192"/>
            <a:ext cx="681981" cy="675161"/>
          </a:xfrm>
          <a:custGeom>
            <a:avLst/>
            <a:gdLst/>
            <a:ahLst/>
            <a:cxnLst/>
            <a:rect r="r" b="b" t="t" l="l"/>
            <a:pathLst>
              <a:path h="675161" w="681981">
                <a:moveTo>
                  <a:pt x="0" y="0"/>
                </a:moveTo>
                <a:lnTo>
                  <a:pt x="681981" y="0"/>
                </a:lnTo>
                <a:lnTo>
                  <a:pt x="681981" y="675161"/>
                </a:lnTo>
                <a:lnTo>
                  <a:pt x="0" y="6751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36569" y="3783134"/>
            <a:ext cx="6911986" cy="175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9"/>
              </a:lnSpc>
            </a:pPr>
            <a:r>
              <a:rPr lang="en-US" b="true" sz="6749">
                <a:solidFill>
                  <a:srgbClr val="231F20"/>
                </a:solidFill>
                <a:latin typeface="Atma Bold"/>
                <a:ea typeface="Atma Bold"/>
                <a:cs typeface="Atma Bold"/>
                <a:sym typeface="Atma Bold"/>
              </a:rPr>
              <a:t>PRÉSENTATION</a:t>
            </a:r>
          </a:p>
          <a:p>
            <a:pPr algn="ctr">
              <a:lnSpc>
                <a:spcPts val="6749"/>
              </a:lnSpc>
            </a:pPr>
            <a:r>
              <a:rPr lang="en-US" b="true" sz="6749">
                <a:solidFill>
                  <a:srgbClr val="231F20"/>
                </a:solidFill>
                <a:latin typeface="Atma Bold"/>
                <a:ea typeface="Atma Bold"/>
                <a:cs typeface="Atma Bold"/>
                <a:sym typeface="Atma Bold"/>
              </a:rPr>
              <a:t>ALTERNANCE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11311" y="5993385"/>
            <a:ext cx="656250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b="true" sz="2800">
                <a:solidFill>
                  <a:srgbClr val="231F20"/>
                </a:solidFill>
                <a:latin typeface="Atma Bold"/>
                <a:ea typeface="Atma Bold"/>
                <a:cs typeface="Atma Bold"/>
                <a:sym typeface="Atma Bold"/>
              </a:rPr>
              <a:t>Constant Foos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92899"/>
            <a:ext cx="4475018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231F20"/>
                </a:solidFill>
                <a:latin typeface="Atma Bold"/>
                <a:ea typeface="Atma Bold"/>
                <a:cs typeface="Atma Bold"/>
                <a:sym typeface="Atma Bold"/>
              </a:rPr>
              <a:t>IFIDE Sup-Formation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C6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6148" y="6456710"/>
            <a:ext cx="8416267" cy="8917899"/>
          </a:xfrm>
          <a:custGeom>
            <a:avLst/>
            <a:gdLst/>
            <a:ahLst/>
            <a:cxnLst/>
            <a:rect r="r" b="b" t="t" l="l"/>
            <a:pathLst>
              <a:path h="8917899" w="8416267">
                <a:moveTo>
                  <a:pt x="0" y="0"/>
                </a:moveTo>
                <a:lnTo>
                  <a:pt x="8416267" y="0"/>
                </a:lnTo>
                <a:lnTo>
                  <a:pt x="8416267" y="8917900"/>
                </a:lnTo>
                <a:lnTo>
                  <a:pt x="0" y="8917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30951" y="1103644"/>
            <a:ext cx="7002081" cy="8665866"/>
            <a:chOff x="0" y="0"/>
            <a:chExt cx="1844170" cy="22823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44170" cy="2282368"/>
            </a:xfrm>
            <a:custGeom>
              <a:avLst/>
              <a:gdLst/>
              <a:ahLst/>
              <a:cxnLst/>
              <a:rect r="r" b="b" t="t" l="l"/>
              <a:pathLst>
                <a:path h="2282368" w="1844170">
                  <a:moveTo>
                    <a:pt x="0" y="0"/>
                  </a:moveTo>
                  <a:lnTo>
                    <a:pt x="1844170" y="0"/>
                  </a:lnTo>
                  <a:lnTo>
                    <a:pt x="1844170" y="2282368"/>
                  </a:lnTo>
                  <a:lnTo>
                    <a:pt x="0" y="2282368"/>
                  </a:lnTo>
                  <a:close/>
                </a:path>
              </a:pathLst>
            </a:custGeom>
            <a:solidFill>
              <a:srgbClr val="F7E8E3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844170" cy="2329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75569" y="1140062"/>
            <a:ext cx="6908287" cy="8598744"/>
          </a:xfrm>
          <a:custGeom>
            <a:avLst/>
            <a:gdLst/>
            <a:ahLst/>
            <a:cxnLst/>
            <a:rect r="r" b="b" t="t" l="l"/>
            <a:pathLst>
              <a:path h="8598744" w="6908287">
                <a:moveTo>
                  <a:pt x="0" y="0"/>
                </a:moveTo>
                <a:lnTo>
                  <a:pt x="6908287" y="0"/>
                </a:lnTo>
                <a:lnTo>
                  <a:pt x="6908287" y="8598745"/>
                </a:lnTo>
                <a:lnTo>
                  <a:pt x="0" y="85987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619" t="0" r="-50202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506176">
            <a:off x="6430140" y="877000"/>
            <a:ext cx="681981" cy="675161"/>
          </a:xfrm>
          <a:custGeom>
            <a:avLst/>
            <a:gdLst/>
            <a:ahLst/>
            <a:cxnLst/>
            <a:rect r="r" b="b" t="t" l="l"/>
            <a:pathLst>
              <a:path h="675161" w="681981">
                <a:moveTo>
                  <a:pt x="0" y="0"/>
                </a:moveTo>
                <a:lnTo>
                  <a:pt x="681981" y="0"/>
                </a:lnTo>
                <a:lnTo>
                  <a:pt x="681981" y="675161"/>
                </a:lnTo>
                <a:lnTo>
                  <a:pt x="0" y="6751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318834" y="1638300"/>
            <a:ext cx="7835207" cy="640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Groupe Passion automobiles</a:t>
            </a: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i="true">
                <a:solidFill>
                  <a:srgbClr val="000000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Concessionnaire automobile avec 27 concessions basé à Sausheim et présent de Colmar à Cannes.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i="true">
                <a:solidFill>
                  <a:srgbClr val="000000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350 collaborateurs répartis sur 9 sites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i="true">
                <a:solidFill>
                  <a:srgbClr val="000000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300 postes utilisateurs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i="true">
                <a:solidFill>
                  <a:srgbClr val="000000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Département informatique :</a:t>
            </a:r>
          </a:p>
          <a:p>
            <a:pPr algn="just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i="true">
                <a:solidFill>
                  <a:srgbClr val="000000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 Un administrateur système</a:t>
            </a:r>
          </a:p>
          <a:p>
            <a:pPr algn="just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i="true">
                <a:solidFill>
                  <a:srgbClr val="000000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 Un alternant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318834" y="811857"/>
            <a:ext cx="9188908" cy="62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b="true" sz="4600">
                <a:solidFill>
                  <a:srgbClr val="231F20"/>
                </a:solidFill>
                <a:latin typeface="Atma Bold"/>
                <a:ea typeface="Atma Bold"/>
                <a:cs typeface="Atma Bold"/>
                <a:sym typeface="Atma Bold"/>
              </a:rPr>
              <a:t>PRÉSENTATION DE L’ENTREPRISE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8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9077" y="-784075"/>
            <a:ext cx="18557077" cy="11071075"/>
          </a:xfrm>
          <a:custGeom>
            <a:avLst/>
            <a:gdLst/>
            <a:ahLst/>
            <a:cxnLst/>
            <a:rect r="r" b="b" t="t" l="l"/>
            <a:pathLst>
              <a:path h="11071075" w="18557077">
                <a:moveTo>
                  <a:pt x="0" y="0"/>
                </a:moveTo>
                <a:lnTo>
                  <a:pt x="18557077" y="0"/>
                </a:lnTo>
                <a:lnTo>
                  <a:pt x="18557077" y="11071075"/>
                </a:lnTo>
                <a:lnTo>
                  <a:pt x="0" y="1107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77" r="0" b="-16936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37762" y="1567827"/>
            <a:ext cx="12996315" cy="930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b="true" sz="7000">
                <a:solidFill>
                  <a:srgbClr val="231F20"/>
                </a:solidFill>
                <a:latin typeface="Atma Bold"/>
                <a:ea typeface="Atma Bold"/>
                <a:cs typeface="Atma Bold"/>
                <a:sym typeface="Atma Bold"/>
              </a:rPr>
              <a:t>MES MISSIONS EN ENTREPRISE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21801" y="2731546"/>
            <a:ext cx="7924336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Création, modification et suppression de comptes utilisateurs.</a:t>
            </a:r>
          </a:p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Attribution des droits d’accès et gestion des groupes de sécurité.</a:t>
            </a:r>
          </a:p>
          <a:p>
            <a:pPr algn="l">
              <a:lnSpc>
                <a:spcPts val="26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7621801" y="4340726"/>
            <a:ext cx="7924336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Création des sessions utilisateurs, paramétrage des accès, récupération de matériel lors de départs.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21801" y="5508293"/>
            <a:ext cx="7924336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Installation et configuration des DECT</a:t>
            </a:r>
          </a:p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Maintenance et suivi des lignes.</a:t>
            </a:r>
          </a:p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Préparation des téléphones portables + gestion</a:t>
            </a:r>
          </a:p>
          <a:p>
            <a:pPr algn="l">
              <a:lnSpc>
                <a:spcPts val="26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126065" y="2722021"/>
            <a:ext cx="3962336" cy="75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Gestion de l'Active Directory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26065" y="5663446"/>
            <a:ext cx="3528132" cy="75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Gestion de </a:t>
            </a:r>
            <a:r>
              <a:rPr lang="en-US" sz="2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la téléphonie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26065" y="4295006"/>
            <a:ext cx="3962336" cy="75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Onboarding &amp; Offboarding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76475" y="2702971"/>
            <a:ext cx="680965" cy="680965"/>
          </a:xfrm>
          <a:custGeom>
            <a:avLst/>
            <a:gdLst/>
            <a:ahLst/>
            <a:cxnLst/>
            <a:rect r="r" b="b" t="t" l="l"/>
            <a:pathLst>
              <a:path h="680965" w="680965">
                <a:moveTo>
                  <a:pt x="0" y="0"/>
                </a:moveTo>
                <a:lnTo>
                  <a:pt x="680965" y="0"/>
                </a:lnTo>
                <a:lnTo>
                  <a:pt x="680965" y="680964"/>
                </a:lnTo>
                <a:lnTo>
                  <a:pt x="0" y="680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506176">
            <a:off x="1772479" y="4326996"/>
            <a:ext cx="681981" cy="675161"/>
          </a:xfrm>
          <a:custGeom>
            <a:avLst/>
            <a:gdLst/>
            <a:ahLst/>
            <a:cxnLst/>
            <a:rect r="r" b="b" t="t" l="l"/>
            <a:pathLst>
              <a:path h="675161" w="681981">
                <a:moveTo>
                  <a:pt x="0" y="0"/>
                </a:moveTo>
                <a:lnTo>
                  <a:pt x="681981" y="0"/>
                </a:lnTo>
                <a:lnTo>
                  <a:pt x="681981" y="675161"/>
                </a:lnTo>
                <a:lnTo>
                  <a:pt x="0" y="6751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24521" y="5644396"/>
            <a:ext cx="384873" cy="645490"/>
          </a:xfrm>
          <a:custGeom>
            <a:avLst/>
            <a:gdLst/>
            <a:ahLst/>
            <a:cxnLst/>
            <a:rect r="r" b="b" t="t" l="l"/>
            <a:pathLst>
              <a:path h="645490" w="384873">
                <a:moveTo>
                  <a:pt x="0" y="0"/>
                </a:moveTo>
                <a:lnTo>
                  <a:pt x="384873" y="0"/>
                </a:lnTo>
                <a:lnTo>
                  <a:pt x="384873" y="645490"/>
                </a:lnTo>
                <a:lnTo>
                  <a:pt x="0" y="6454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76475" y="7089986"/>
            <a:ext cx="680965" cy="680965"/>
          </a:xfrm>
          <a:custGeom>
            <a:avLst/>
            <a:gdLst/>
            <a:ahLst/>
            <a:cxnLst/>
            <a:rect r="r" b="b" t="t" l="l"/>
            <a:pathLst>
              <a:path h="680965" w="680965">
                <a:moveTo>
                  <a:pt x="0" y="0"/>
                </a:moveTo>
                <a:lnTo>
                  <a:pt x="680965" y="0"/>
                </a:lnTo>
                <a:lnTo>
                  <a:pt x="680965" y="680964"/>
                </a:lnTo>
                <a:lnTo>
                  <a:pt x="0" y="680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126065" y="7060898"/>
            <a:ext cx="3528132" cy="75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Présence en ligne de l’entreprise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21801" y="7070423"/>
            <a:ext cx="792433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Gestion des noms de domaines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2506176">
            <a:off x="1772479" y="8441796"/>
            <a:ext cx="681981" cy="675161"/>
          </a:xfrm>
          <a:custGeom>
            <a:avLst/>
            <a:gdLst/>
            <a:ahLst/>
            <a:cxnLst/>
            <a:rect r="r" b="b" t="t" l="l"/>
            <a:pathLst>
              <a:path h="675161" w="681981">
                <a:moveTo>
                  <a:pt x="0" y="0"/>
                </a:moveTo>
                <a:lnTo>
                  <a:pt x="681981" y="0"/>
                </a:lnTo>
                <a:lnTo>
                  <a:pt x="681981" y="675161"/>
                </a:lnTo>
                <a:lnTo>
                  <a:pt x="0" y="6751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126065" y="8319502"/>
            <a:ext cx="3528132" cy="75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Respect des normes des constructeurs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21801" y="8365222"/>
            <a:ext cx="7924336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Identifiants et mots de passe des utilisateurs, matériels à leur disposition..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83650" y="1555945"/>
            <a:ext cx="13408269" cy="930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b="true" sz="7000">
                <a:solidFill>
                  <a:srgbClr val="231F20"/>
                </a:solidFill>
                <a:latin typeface="Atma Bold"/>
                <a:ea typeface="Atma Bold"/>
                <a:cs typeface="Atma Bold"/>
                <a:sym typeface="Atma Bold"/>
              </a:rPr>
              <a:t>MES MISSIONS EN ENTREPRISE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57027" y="2640400"/>
            <a:ext cx="7924336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Assistance aux utilisateurs en cas de problème technique.</a:t>
            </a:r>
          </a:p>
          <a:p>
            <a:pPr algn="l">
              <a:lnSpc>
                <a:spcPts val="26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7757027" y="3727930"/>
            <a:ext cx="7924336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Suivi des incidents via GLPI</a:t>
            </a:r>
          </a:p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Résolution des tickets</a:t>
            </a:r>
          </a:p>
          <a:p>
            <a:pPr algn="l">
              <a:lnSpc>
                <a:spcPts val="269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757027" y="4645448"/>
            <a:ext cx="7924336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Installation et gestion du câblage réseau dans les locaux.</a:t>
            </a:r>
          </a:p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Vérification des connexions et dépannage en cas de problème.</a:t>
            </a:r>
          </a:p>
          <a:p>
            <a:pPr algn="l">
              <a:lnSpc>
                <a:spcPts val="26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997370" y="2906916"/>
            <a:ext cx="3962336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Gestion des ERP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97370" y="5094078"/>
            <a:ext cx="3528132" cy="75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Brassage de câb</a:t>
            </a:r>
            <a:r>
              <a:rPr lang="en-US" sz="2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les et réseaux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97370" y="4002513"/>
            <a:ext cx="3962336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Ticketing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961077" y="5128878"/>
            <a:ext cx="680965" cy="680965"/>
          </a:xfrm>
          <a:custGeom>
            <a:avLst/>
            <a:gdLst/>
            <a:ahLst/>
            <a:cxnLst/>
            <a:rect r="r" b="b" t="t" l="l"/>
            <a:pathLst>
              <a:path h="680965" w="680965">
                <a:moveTo>
                  <a:pt x="0" y="0"/>
                </a:moveTo>
                <a:lnTo>
                  <a:pt x="680964" y="0"/>
                </a:lnTo>
                <a:lnTo>
                  <a:pt x="680964" y="680965"/>
                </a:lnTo>
                <a:lnTo>
                  <a:pt x="0" y="680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506176">
            <a:off x="1960082" y="2753168"/>
            <a:ext cx="681981" cy="675161"/>
          </a:xfrm>
          <a:custGeom>
            <a:avLst/>
            <a:gdLst/>
            <a:ahLst/>
            <a:cxnLst/>
            <a:rect r="r" b="b" t="t" l="l"/>
            <a:pathLst>
              <a:path h="675161" w="681981">
                <a:moveTo>
                  <a:pt x="0" y="0"/>
                </a:moveTo>
                <a:lnTo>
                  <a:pt x="681980" y="0"/>
                </a:lnTo>
                <a:lnTo>
                  <a:pt x="681980" y="675161"/>
                </a:lnTo>
                <a:lnTo>
                  <a:pt x="0" y="6751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108635" y="3863600"/>
            <a:ext cx="384873" cy="645490"/>
          </a:xfrm>
          <a:custGeom>
            <a:avLst/>
            <a:gdLst/>
            <a:ahLst/>
            <a:cxnLst/>
            <a:rect r="r" b="b" t="t" l="l"/>
            <a:pathLst>
              <a:path h="645490" w="384873">
                <a:moveTo>
                  <a:pt x="0" y="0"/>
                </a:moveTo>
                <a:lnTo>
                  <a:pt x="384874" y="0"/>
                </a:lnTo>
                <a:lnTo>
                  <a:pt x="384874" y="645490"/>
                </a:lnTo>
                <a:lnTo>
                  <a:pt x="0" y="6454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97370" y="6481652"/>
            <a:ext cx="3962336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Gestion des sauvegardes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2506176">
            <a:off x="1960568" y="6368092"/>
            <a:ext cx="681981" cy="675161"/>
          </a:xfrm>
          <a:custGeom>
            <a:avLst/>
            <a:gdLst/>
            <a:ahLst/>
            <a:cxnLst/>
            <a:rect r="r" b="b" t="t" l="l"/>
            <a:pathLst>
              <a:path h="675161" w="681981">
                <a:moveTo>
                  <a:pt x="0" y="0"/>
                </a:moveTo>
                <a:lnTo>
                  <a:pt x="681981" y="0"/>
                </a:lnTo>
                <a:lnTo>
                  <a:pt x="681981" y="675161"/>
                </a:lnTo>
                <a:lnTo>
                  <a:pt x="0" y="6751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757027" y="6377829"/>
            <a:ext cx="7924336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Suivi des sauvegardes quotidiennes, hebdomadaires et mensuelles. Tests de restauration</a:t>
            </a:r>
          </a:p>
          <a:p>
            <a:pPr algn="l">
              <a:lnSpc>
                <a:spcPts val="2699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108635" y="7545747"/>
            <a:ext cx="384873" cy="645490"/>
          </a:xfrm>
          <a:custGeom>
            <a:avLst/>
            <a:gdLst/>
            <a:ahLst/>
            <a:cxnLst/>
            <a:rect r="r" b="b" t="t" l="l"/>
            <a:pathLst>
              <a:path h="645490" w="384873">
                <a:moveTo>
                  <a:pt x="0" y="0"/>
                </a:moveTo>
                <a:lnTo>
                  <a:pt x="384874" y="0"/>
                </a:lnTo>
                <a:lnTo>
                  <a:pt x="384874" y="645489"/>
                </a:lnTo>
                <a:lnTo>
                  <a:pt x="0" y="6454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997370" y="7433047"/>
            <a:ext cx="3962336" cy="75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Mise en place d’un serveur de supervision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57027" y="7416054"/>
            <a:ext cx="7924336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Création d’un serveur Zabbix pour suivi des switchs et des sauvegardes serveurs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C6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6148" y="6456710"/>
            <a:ext cx="8416267" cy="8917899"/>
          </a:xfrm>
          <a:custGeom>
            <a:avLst/>
            <a:gdLst/>
            <a:ahLst/>
            <a:cxnLst/>
            <a:rect r="r" b="b" t="t" l="l"/>
            <a:pathLst>
              <a:path h="8917899" w="8416267">
                <a:moveTo>
                  <a:pt x="0" y="0"/>
                </a:moveTo>
                <a:lnTo>
                  <a:pt x="8416267" y="0"/>
                </a:lnTo>
                <a:lnTo>
                  <a:pt x="8416267" y="8917900"/>
                </a:lnTo>
                <a:lnTo>
                  <a:pt x="0" y="8917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77684" y="2482943"/>
            <a:ext cx="8067735" cy="5393178"/>
            <a:chOff x="0" y="0"/>
            <a:chExt cx="2124835" cy="14204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24835" cy="1420426"/>
            </a:xfrm>
            <a:custGeom>
              <a:avLst/>
              <a:gdLst/>
              <a:ahLst/>
              <a:cxnLst/>
              <a:rect r="r" b="b" t="t" l="l"/>
              <a:pathLst>
                <a:path h="1420426" w="2124835">
                  <a:moveTo>
                    <a:pt x="0" y="0"/>
                  </a:moveTo>
                  <a:lnTo>
                    <a:pt x="2124835" y="0"/>
                  </a:lnTo>
                  <a:lnTo>
                    <a:pt x="2124835" y="1420426"/>
                  </a:lnTo>
                  <a:lnTo>
                    <a:pt x="0" y="1420426"/>
                  </a:lnTo>
                  <a:close/>
                </a:path>
              </a:pathLst>
            </a:custGeom>
            <a:solidFill>
              <a:srgbClr val="F7E8E3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124835" cy="146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18220" y="2518975"/>
            <a:ext cx="7986663" cy="5321114"/>
          </a:xfrm>
          <a:custGeom>
            <a:avLst/>
            <a:gdLst/>
            <a:ahLst/>
            <a:cxnLst/>
            <a:rect r="r" b="b" t="t" l="l"/>
            <a:pathLst>
              <a:path h="5321114" w="7986663">
                <a:moveTo>
                  <a:pt x="0" y="0"/>
                </a:moveTo>
                <a:lnTo>
                  <a:pt x="7986663" y="0"/>
                </a:lnTo>
                <a:lnTo>
                  <a:pt x="7986663" y="5321114"/>
                </a:lnTo>
                <a:lnTo>
                  <a:pt x="0" y="5321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39827" y="755963"/>
            <a:ext cx="9188908" cy="62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b="true" sz="4600">
                <a:solidFill>
                  <a:srgbClr val="231F20"/>
                </a:solidFill>
                <a:latin typeface="Atma Bold"/>
                <a:ea typeface="Atma Bold"/>
                <a:cs typeface="Atma Bold"/>
                <a:sym typeface="Atma Bold"/>
              </a:rPr>
              <a:t>PROJET EN ENTREPRISE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662761"/>
            <a:ext cx="5774829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  <a:spcBef>
                <a:spcPct val="0"/>
              </a:spcBef>
            </a:pPr>
            <a:r>
              <a:rPr lang="en-US" b="true" sz="2699">
                <a:solidFill>
                  <a:srgbClr val="231F20"/>
                </a:solidFill>
                <a:latin typeface="Roboto Bold"/>
                <a:ea typeface="Roboto Bold"/>
                <a:cs typeface="Roboto Bold"/>
                <a:sym typeface="Roboto Bold"/>
              </a:rPr>
              <a:t>MISE EN PLACE D’UN NOUVEAU SITE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2506176">
            <a:off x="605962" y="7502508"/>
            <a:ext cx="681981" cy="675161"/>
          </a:xfrm>
          <a:custGeom>
            <a:avLst/>
            <a:gdLst/>
            <a:ahLst/>
            <a:cxnLst/>
            <a:rect r="r" b="b" t="t" l="l"/>
            <a:pathLst>
              <a:path h="675161" w="681981">
                <a:moveTo>
                  <a:pt x="0" y="0"/>
                </a:moveTo>
                <a:lnTo>
                  <a:pt x="681981" y="0"/>
                </a:lnTo>
                <a:lnTo>
                  <a:pt x="681981" y="675162"/>
                </a:lnTo>
                <a:lnTo>
                  <a:pt x="0" y="6751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842415" y="2068526"/>
            <a:ext cx="8445585" cy="2244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2969"/>
              </a:lnSpc>
              <a:buFont typeface="Arial"/>
              <a:buChar char="•"/>
            </a:pPr>
            <a:r>
              <a:rPr lang="en-US" b="true" sz="2699">
                <a:solidFill>
                  <a:srgbClr val="231F20"/>
                </a:solidFill>
                <a:latin typeface="Roboto Bold"/>
                <a:ea typeface="Roboto Bold"/>
                <a:cs typeface="Roboto Bold"/>
                <a:sym typeface="Roboto Bold"/>
              </a:rPr>
              <a:t>Paramétrage réseau</a:t>
            </a:r>
          </a:p>
          <a:p>
            <a:pPr algn="l" marL="582927" indent="-291463" lvl="1">
              <a:lnSpc>
                <a:spcPts val="2969"/>
              </a:lnSpc>
              <a:buFont typeface="Arial"/>
              <a:buChar char="•"/>
            </a:pPr>
            <a:r>
              <a:rPr lang="en-US" b="true" sz="2699">
                <a:solidFill>
                  <a:srgbClr val="231F20"/>
                </a:solidFill>
                <a:latin typeface="Roboto Bold"/>
                <a:ea typeface="Roboto Bold"/>
                <a:cs typeface="Roboto Bold"/>
                <a:sym typeface="Roboto Bold"/>
              </a:rPr>
              <a:t>Coordination et mise en service du lien MPLS avec les prestataires</a:t>
            </a:r>
          </a:p>
          <a:p>
            <a:pPr algn="l" marL="582927" indent="-291463" lvl="1">
              <a:lnSpc>
                <a:spcPts val="2969"/>
              </a:lnSpc>
              <a:buFont typeface="Arial"/>
              <a:buChar char="•"/>
            </a:pPr>
            <a:r>
              <a:rPr lang="en-US" b="true" sz="2699">
                <a:solidFill>
                  <a:srgbClr val="231F20"/>
                </a:solidFill>
                <a:latin typeface="Roboto Bold"/>
                <a:ea typeface="Roboto Bold"/>
                <a:cs typeface="Roboto Bold"/>
                <a:sym typeface="Roboto Bold"/>
              </a:rPr>
              <a:t>Mise en place du firewall (watchguard)</a:t>
            </a:r>
          </a:p>
          <a:p>
            <a:pPr algn="l" marL="582927" indent="-291463" lvl="1">
              <a:lnSpc>
                <a:spcPts val="2969"/>
              </a:lnSpc>
              <a:buFont typeface="Arial"/>
              <a:buChar char="•"/>
            </a:pPr>
            <a:r>
              <a:rPr lang="en-US" b="true" sz="2699">
                <a:solidFill>
                  <a:srgbClr val="231F20"/>
                </a:solidFill>
                <a:latin typeface="Roboto Bold"/>
                <a:ea typeface="Roboto Bold"/>
                <a:cs typeface="Roboto Bold"/>
                <a:sym typeface="Roboto Bold"/>
              </a:rPr>
              <a:t>Installation et configuration du switch</a:t>
            </a:r>
          </a:p>
          <a:p>
            <a:pPr algn="l" marL="582927" indent="-291463" lvl="1">
              <a:lnSpc>
                <a:spcPts val="296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99">
                <a:solidFill>
                  <a:srgbClr val="231F20"/>
                </a:solidFill>
                <a:latin typeface="Roboto Bold"/>
                <a:ea typeface="Roboto Bold"/>
                <a:cs typeface="Roboto Bold"/>
                <a:sym typeface="Roboto Bold"/>
              </a:rPr>
              <a:t>Déploiement des bornes wi-fi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42415" y="6059720"/>
            <a:ext cx="8445585" cy="150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2969"/>
              </a:lnSpc>
              <a:buFont typeface="Arial"/>
              <a:buChar char="•"/>
            </a:pPr>
            <a:r>
              <a:rPr lang="en-US" b="true" sz="2699">
                <a:solidFill>
                  <a:srgbClr val="231F20"/>
                </a:solidFill>
                <a:latin typeface="Roboto Bold"/>
                <a:ea typeface="Roboto Bold"/>
                <a:cs typeface="Roboto Bold"/>
                <a:sym typeface="Roboto Bold"/>
              </a:rPr>
              <a:t>Mise en place des postes utilisateurs</a:t>
            </a:r>
          </a:p>
          <a:p>
            <a:pPr algn="l" marL="582927" indent="-291463" lvl="1">
              <a:lnSpc>
                <a:spcPts val="2969"/>
              </a:lnSpc>
              <a:buFont typeface="Arial"/>
              <a:buChar char="•"/>
            </a:pPr>
            <a:r>
              <a:rPr lang="en-US" b="true" sz="2699">
                <a:solidFill>
                  <a:srgbClr val="231F20"/>
                </a:solidFill>
                <a:latin typeface="Roboto Bold"/>
                <a:ea typeface="Roboto Bold"/>
                <a:cs typeface="Roboto Bold"/>
                <a:sym typeface="Roboto Bold"/>
              </a:rPr>
              <a:t>Création des nouveaux groupes de sécurité dans l’AD</a:t>
            </a:r>
          </a:p>
          <a:p>
            <a:pPr algn="l" marL="582927" indent="-291463" lvl="1">
              <a:lnSpc>
                <a:spcPts val="296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99">
                <a:solidFill>
                  <a:srgbClr val="231F20"/>
                </a:solidFill>
                <a:latin typeface="Roboto Bold"/>
                <a:ea typeface="Roboto Bold"/>
                <a:cs typeface="Roboto Bold"/>
                <a:sym typeface="Roboto Bold"/>
              </a:rPr>
              <a:t>Gestion des droits NTFS via groupes AD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337172">
            <a:off x="9092092" y="1939261"/>
            <a:ext cx="9281328" cy="9834520"/>
          </a:xfrm>
          <a:custGeom>
            <a:avLst/>
            <a:gdLst/>
            <a:ahLst/>
            <a:cxnLst/>
            <a:rect r="r" b="b" t="t" l="l"/>
            <a:pathLst>
              <a:path h="9834520" w="9281328">
                <a:moveTo>
                  <a:pt x="0" y="0"/>
                </a:moveTo>
                <a:lnTo>
                  <a:pt x="9281327" y="0"/>
                </a:lnTo>
                <a:lnTo>
                  <a:pt x="9281327" y="9834519"/>
                </a:lnTo>
                <a:lnTo>
                  <a:pt x="0" y="98345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83650" y="2341004"/>
            <a:ext cx="7460350" cy="175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99"/>
              </a:lnSpc>
            </a:pPr>
            <a:r>
              <a:rPr lang="en-US" sz="25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MISE EN PLACE D’UN SYSTEME D’INFORMATION A HAUTE DISPONIBILITÉ</a:t>
            </a:r>
          </a:p>
          <a:p>
            <a:pPr algn="just">
              <a:lnSpc>
                <a:spcPts val="3150"/>
              </a:lnSpc>
            </a:pPr>
          </a:p>
          <a:p>
            <a:pPr algn="just">
              <a:lnSpc>
                <a:spcPts val="315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683650" y="1536895"/>
            <a:ext cx="9826869" cy="812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0"/>
              </a:lnSpc>
            </a:pPr>
            <a:r>
              <a:rPr lang="en-US" b="true" sz="6100">
                <a:solidFill>
                  <a:srgbClr val="231F20"/>
                </a:solidFill>
                <a:latin typeface="Atma Bold"/>
                <a:ea typeface="Atma Bold"/>
                <a:cs typeface="Atma Bold"/>
                <a:sym typeface="Atma Bold"/>
              </a:rPr>
              <a:t>PROJET IFIDE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10519" y="3143676"/>
            <a:ext cx="5269158" cy="744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Mise en place domain Active Directory</a:t>
            </a:r>
          </a:p>
          <a:p>
            <a:pPr algn="l">
              <a:lnSpc>
                <a:spcPts val="2969"/>
              </a:lnSpc>
            </a:pPr>
          </a:p>
          <a:p>
            <a:pPr algn="l">
              <a:lnSpc>
                <a:spcPts val="2969"/>
              </a:lnSpc>
            </a:pPr>
            <a:r>
              <a:rPr lang="en-US" sz="2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Tunnel VPN pour lier sites distants via PFSENSE</a:t>
            </a:r>
          </a:p>
          <a:p>
            <a:pPr algn="l">
              <a:lnSpc>
                <a:spcPts val="2969"/>
              </a:lnSpc>
            </a:pPr>
          </a:p>
          <a:p>
            <a:pPr algn="l">
              <a:lnSpc>
                <a:spcPts val="2969"/>
              </a:lnSpc>
            </a:pPr>
            <a:r>
              <a:rPr lang="en-US" sz="2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Dossier en commun via DFSR</a:t>
            </a:r>
          </a:p>
          <a:p>
            <a:pPr algn="l">
              <a:lnSpc>
                <a:spcPts val="2969"/>
              </a:lnSpc>
            </a:pPr>
          </a:p>
          <a:p>
            <a:pPr algn="l">
              <a:lnSpc>
                <a:spcPts val="2969"/>
              </a:lnSpc>
            </a:pPr>
            <a:r>
              <a:rPr lang="en-US" sz="2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Mise en place de sauvegarde windows</a:t>
            </a:r>
          </a:p>
          <a:p>
            <a:pPr algn="l">
              <a:lnSpc>
                <a:spcPts val="2969"/>
              </a:lnSpc>
            </a:pPr>
          </a:p>
          <a:p>
            <a:pPr algn="l">
              <a:lnSpc>
                <a:spcPts val="2969"/>
              </a:lnSpc>
            </a:pPr>
            <a:r>
              <a:rPr lang="en-US" sz="2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Clichés instantanés</a:t>
            </a:r>
          </a:p>
          <a:p>
            <a:pPr algn="l">
              <a:lnSpc>
                <a:spcPts val="2969"/>
              </a:lnSpc>
            </a:pPr>
          </a:p>
          <a:p>
            <a:pPr algn="l">
              <a:lnSpc>
                <a:spcPts val="2969"/>
              </a:lnSpc>
            </a:pPr>
            <a:r>
              <a:rPr lang="en-US" sz="2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Mise en place d’un serveur NAS</a:t>
            </a:r>
          </a:p>
          <a:p>
            <a:pPr algn="l">
              <a:lnSpc>
                <a:spcPts val="2969"/>
              </a:lnSpc>
            </a:pPr>
          </a:p>
          <a:p>
            <a:pPr algn="l">
              <a:lnSpc>
                <a:spcPts val="296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Gestion des GPO</a:t>
            </a:r>
          </a:p>
          <a:p>
            <a:pPr algn="just">
              <a:lnSpc>
                <a:spcPts val="2969"/>
              </a:lnSpc>
              <a:spcBef>
                <a:spcPct val="0"/>
              </a:spcBef>
            </a:pPr>
          </a:p>
          <a:p>
            <a:pPr algn="just">
              <a:lnSpc>
                <a:spcPts val="2969"/>
              </a:lnSpc>
              <a:spcBef>
                <a:spcPct val="0"/>
              </a:spcBef>
            </a:pPr>
          </a:p>
          <a:p>
            <a:pPr algn="just">
              <a:lnSpc>
                <a:spcPts val="2969"/>
              </a:lnSpc>
              <a:spcBef>
                <a:spcPct val="0"/>
              </a:spcBef>
            </a:pPr>
          </a:p>
          <a:p>
            <a:pPr algn="just">
              <a:lnSpc>
                <a:spcPts val="296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683650" y="4190759"/>
            <a:ext cx="6683751" cy="75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Gestion des ressources et du planning via diagramme de GANTT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650" y="5509895"/>
            <a:ext cx="6683751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Rédaction d’une documentation technique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4012424"/>
            <a:ext cx="384873" cy="645490"/>
          </a:xfrm>
          <a:custGeom>
            <a:avLst/>
            <a:gdLst/>
            <a:ahLst/>
            <a:cxnLst/>
            <a:rect r="r" b="b" t="t" l="l"/>
            <a:pathLst>
              <a:path h="645490" w="384873">
                <a:moveTo>
                  <a:pt x="0" y="0"/>
                </a:moveTo>
                <a:lnTo>
                  <a:pt x="384873" y="0"/>
                </a:lnTo>
                <a:lnTo>
                  <a:pt x="384873" y="645490"/>
                </a:lnTo>
                <a:lnTo>
                  <a:pt x="0" y="6454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5370982"/>
            <a:ext cx="384873" cy="645490"/>
          </a:xfrm>
          <a:custGeom>
            <a:avLst/>
            <a:gdLst/>
            <a:ahLst/>
            <a:cxnLst/>
            <a:rect r="r" b="b" t="t" l="l"/>
            <a:pathLst>
              <a:path h="645490" w="384873">
                <a:moveTo>
                  <a:pt x="0" y="0"/>
                </a:moveTo>
                <a:lnTo>
                  <a:pt x="384873" y="0"/>
                </a:lnTo>
                <a:lnTo>
                  <a:pt x="384873" y="645490"/>
                </a:lnTo>
                <a:lnTo>
                  <a:pt x="0" y="6454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506176">
            <a:off x="10631029" y="3232850"/>
            <a:ext cx="522182" cy="516960"/>
          </a:xfrm>
          <a:custGeom>
            <a:avLst/>
            <a:gdLst/>
            <a:ahLst/>
            <a:cxnLst/>
            <a:rect r="r" b="b" t="t" l="l"/>
            <a:pathLst>
              <a:path h="516960" w="522182">
                <a:moveTo>
                  <a:pt x="0" y="0"/>
                </a:moveTo>
                <a:lnTo>
                  <a:pt x="522182" y="0"/>
                </a:lnTo>
                <a:lnTo>
                  <a:pt x="522182" y="516960"/>
                </a:lnTo>
                <a:lnTo>
                  <a:pt x="0" y="5169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506176">
            <a:off x="10631029" y="4323765"/>
            <a:ext cx="522182" cy="516960"/>
          </a:xfrm>
          <a:custGeom>
            <a:avLst/>
            <a:gdLst/>
            <a:ahLst/>
            <a:cxnLst/>
            <a:rect r="r" b="b" t="t" l="l"/>
            <a:pathLst>
              <a:path h="516960" w="522182">
                <a:moveTo>
                  <a:pt x="0" y="0"/>
                </a:moveTo>
                <a:lnTo>
                  <a:pt x="522182" y="0"/>
                </a:lnTo>
                <a:lnTo>
                  <a:pt x="522182" y="516960"/>
                </a:lnTo>
                <a:lnTo>
                  <a:pt x="0" y="5169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2506176">
            <a:off x="10631029" y="5271426"/>
            <a:ext cx="522182" cy="516960"/>
          </a:xfrm>
          <a:custGeom>
            <a:avLst/>
            <a:gdLst/>
            <a:ahLst/>
            <a:cxnLst/>
            <a:rect r="r" b="b" t="t" l="l"/>
            <a:pathLst>
              <a:path h="516960" w="522182">
                <a:moveTo>
                  <a:pt x="0" y="0"/>
                </a:moveTo>
                <a:lnTo>
                  <a:pt x="522182" y="0"/>
                </a:lnTo>
                <a:lnTo>
                  <a:pt x="522182" y="516959"/>
                </a:lnTo>
                <a:lnTo>
                  <a:pt x="0" y="5169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2506176">
            <a:off x="10631029" y="6231336"/>
            <a:ext cx="522182" cy="516960"/>
          </a:xfrm>
          <a:custGeom>
            <a:avLst/>
            <a:gdLst/>
            <a:ahLst/>
            <a:cxnLst/>
            <a:rect r="r" b="b" t="t" l="l"/>
            <a:pathLst>
              <a:path h="516960" w="522182">
                <a:moveTo>
                  <a:pt x="0" y="0"/>
                </a:moveTo>
                <a:lnTo>
                  <a:pt x="522182" y="0"/>
                </a:lnTo>
                <a:lnTo>
                  <a:pt x="522182" y="516960"/>
                </a:lnTo>
                <a:lnTo>
                  <a:pt x="0" y="5169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2506176">
            <a:off x="10631029" y="7166299"/>
            <a:ext cx="522182" cy="516960"/>
          </a:xfrm>
          <a:custGeom>
            <a:avLst/>
            <a:gdLst/>
            <a:ahLst/>
            <a:cxnLst/>
            <a:rect r="r" b="b" t="t" l="l"/>
            <a:pathLst>
              <a:path h="516960" w="522182">
                <a:moveTo>
                  <a:pt x="0" y="0"/>
                </a:moveTo>
                <a:lnTo>
                  <a:pt x="522182" y="0"/>
                </a:lnTo>
                <a:lnTo>
                  <a:pt x="522182" y="516960"/>
                </a:lnTo>
                <a:lnTo>
                  <a:pt x="0" y="5169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2506176">
            <a:off x="10631029" y="7899708"/>
            <a:ext cx="522182" cy="516960"/>
          </a:xfrm>
          <a:custGeom>
            <a:avLst/>
            <a:gdLst/>
            <a:ahLst/>
            <a:cxnLst/>
            <a:rect r="r" b="b" t="t" l="l"/>
            <a:pathLst>
              <a:path h="516960" w="522182">
                <a:moveTo>
                  <a:pt x="0" y="0"/>
                </a:moveTo>
                <a:lnTo>
                  <a:pt x="522182" y="0"/>
                </a:lnTo>
                <a:lnTo>
                  <a:pt x="522182" y="516959"/>
                </a:lnTo>
                <a:lnTo>
                  <a:pt x="0" y="5169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2506176">
            <a:off x="10631029" y="8633116"/>
            <a:ext cx="522182" cy="516960"/>
          </a:xfrm>
          <a:custGeom>
            <a:avLst/>
            <a:gdLst/>
            <a:ahLst/>
            <a:cxnLst/>
            <a:rect r="r" b="b" t="t" l="l"/>
            <a:pathLst>
              <a:path h="516960" w="522182">
                <a:moveTo>
                  <a:pt x="0" y="0"/>
                </a:moveTo>
                <a:lnTo>
                  <a:pt x="522182" y="0"/>
                </a:lnTo>
                <a:lnTo>
                  <a:pt x="522182" y="516960"/>
                </a:lnTo>
                <a:lnTo>
                  <a:pt x="0" y="5169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8700" y="6533776"/>
            <a:ext cx="384873" cy="645490"/>
          </a:xfrm>
          <a:custGeom>
            <a:avLst/>
            <a:gdLst/>
            <a:ahLst/>
            <a:cxnLst/>
            <a:rect r="r" b="b" t="t" l="l"/>
            <a:pathLst>
              <a:path h="645490" w="384873">
                <a:moveTo>
                  <a:pt x="0" y="0"/>
                </a:moveTo>
                <a:lnTo>
                  <a:pt x="384873" y="0"/>
                </a:lnTo>
                <a:lnTo>
                  <a:pt x="384873" y="645489"/>
                </a:lnTo>
                <a:lnTo>
                  <a:pt x="0" y="6454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861318" y="6671360"/>
            <a:ext cx="6683751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Budgetisation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70409" y="2906340"/>
            <a:ext cx="384176" cy="644320"/>
          </a:xfrm>
          <a:custGeom>
            <a:avLst/>
            <a:gdLst/>
            <a:ahLst/>
            <a:cxnLst/>
            <a:rect r="r" b="b" t="t" l="l"/>
            <a:pathLst>
              <a:path h="644320" w="384176">
                <a:moveTo>
                  <a:pt x="0" y="0"/>
                </a:moveTo>
                <a:lnTo>
                  <a:pt x="384176" y="0"/>
                </a:lnTo>
                <a:lnTo>
                  <a:pt x="384176" y="644320"/>
                </a:lnTo>
                <a:lnTo>
                  <a:pt x="0" y="644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03287" y="3135786"/>
            <a:ext cx="5947919" cy="3568751"/>
          </a:xfrm>
          <a:custGeom>
            <a:avLst/>
            <a:gdLst/>
            <a:ahLst/>
            <a:cxnLst/>
            <a:rect r="r" b="b" t="t" l="l"/>
            <a:pathLst>
              <a:path h="3568751" w="5947919">
                <a:moveTo>
                  <a:pt x="0" y="0"/>
                </a:moveTo>
                <a:lnTo>
                  <a:pt x="5947919" y="0"/>
                </a:lnTo>
                <a:lnTo>
                  <a:pt x="5947919" y="3568752"/>
                </a:lnTo>
                <a:lnTo>
                  <a:pt x="0" y="35687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184038">
            <a:off x="3197478" y="4005626"/>
            <a:ext cx="1072564" cy="1600843"/>
          </a:xfrm>
          <a:custGeom>
            <a:avLst/>
            <a:gdLst/>
            <a:ahLst/>
            <a:cxnLst/>
            <a:rect r="r" b="b" t="t" l="l"/>
            <a:pathLst>
              <a:path h="1600843" w="1072564">
                <a:moveTo>
                  <a:pt x="0" y="0"/>
                </a:moveTo>
                <a:lnTo>
                  <a:pt x="1072564" y="0"/>
                </a:lnTo>
                <a:lnTo>
                  <a:pt x="1072564" y="1600842"/>
                </a:lnTo>
                <a:lnTo>
                  <a:pt x="0" y="16008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83650" y="1555945"/>
            <a:ext cx="13408269" cy="930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b="true" sz="7000">
                <a:solidFill>
                  <a:srgbClr val="231F20"/>
                </a:solidFill>
                <a:latin typeface="Atma Bold"/>
                <a:ea typeface="Atma Bold"/>
                <a:cs typeface="Atma Bold"/>
                <a:sym typeface="Atma Bold"/>
              </a:rPr>
              <a:t>VEILLE TECHNOLOGIQUE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49835" y="2925390"/>
            <a:ext cx="8058900" cy="75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  <a:spcBef>
                <a:spcPct val="0"/>
              </a:spcBef>
            </a:pPr>
            <a:r>
              <a:rPr lang="en-US" b="true" sz="2699">
                <a:solidFill>
                  <a:srgbClr val="231F20"/>
                </a:solidFill>
                <a:latin typeface="Roboto Bold"/>
                <a:ea typeface="Roboto Bold"/>
                <a:cs typeface="Roboto Bold"/>
                <a:sym typeface="Roboto Bold"/>
              </a:rPr>
              <a:t>Source : Documentation/Notes officielles des constructeurs (Watchguard, Kaspersky)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64708" y="5162550"/>
            <a:ext cx="3563541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  <a:spcBef>
                <a:spcPct val="0"/>
              </a:spcBef>
            </a:pPr>
            <a:r>
              <a:rPr lang="en-US" b="true" sz="2699">
                <a:solidFill>
                  <a:srgbClr val="231F20"/>
                </a:solidFill>
                <a:latin typeface="Roboto Bold"/>
                <a:ea typeface="Roboto Bold"/>
                <a:cs typeface="Roboto Bold"/>
                <a:sym typeface="Roboto Bold"/>
              </a:rPr>
              <a:t>Suivi des vulnérabilités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32815" y="6920034"/>
            <a:ext cx="8058900" cy="75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  <a:spcBef>
                <a:spcPct val="0"/>
              </a:spcBef>
            </a:pPr>
            <a:r>
              <a:rPr lang="en-US" b="true" sz="2699">
                <a:solidFill>
                  <a:srgbClr val="231F20"/>
                </a:solidFill>
                <a:latin typeface="Roboto Bold"/>
                <a:ea typeface="Roboto Bold"/>
                <a:cs typeface="Roboto Bold"/>
                <a:sym typeface="Roboto Bold"/>
              </a:rPr>
              <a:t>Source : Note officielles des fournisseurs automobiles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162497" y="6967444"/>
            <a:ext cx="384176" cy="644320"/>
          </a:xfrm>
          <a:custGeom>
            <a:avLst/>
            <a:gdLst/>
            <a:ahLst/>
            <a:cxnLst/>
            <a:rect r="r" b="b" t="t" l="l"/>
            <a:pathLst>
              <a:path h="644320" w="384176">
                <a:moveTo>
                  <a:pt x="0" y="0"/>
                </a:moveTo>
                <a:lnTo>
                  <a:pt x="384176" y="0"/>
                </a:lnTo>
                <a:lnTo>
                  <a:pt x="384176" y="644320"/>
                </a:lnTo>
                <a:lnTo>
                  <a:pt x="0" y="644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6184038">
            <a:off x="3197478" y="7581170"/>
            <a:ext cx="1072564" cy="1600843"/>
          </a:xfrm>
          <a:custGeom>
            <a:avLst/>
            <a:gdLst/>
            <a:ahLst/>
            <a:cxnLst/>
            <a:rect r="r" b="b" t="t" l="l"/>
            <a:pathLst>
              <a:path h="1600843" w="1072564">
                <a:moveTo>
                  <a:pt x="0" y="0"/>
                </a:moveTo>
                <a:lnTo>
                  <a:pt x="1072564" y="0"/>
                </a:lnTo>
                <a:lnTo>
                  <a:pt x="1072564" y="1600843"/>
                </a:lnTo>
                <a:lnTo>
                  <a:pt x="0" y="16008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748449" y="8715388"/>
            <a:ext cx="8791102" cy="75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  <a:spcBef>
                <a:spcPct val="0"/>
              </a:spcBef>
            </a:pPr>
            <a:r>
              <a:rPr lang="en-US" b="true" sz="2699">
                <a:solidFill>
                  <a:srgbClr val="231F20"/>
                </a:solidFill>
                <a:latin typeface="Roboto Bold"/>
                <a:ea typeface="Roboto Bold"/>
                <a:cs typeface="Roboto Bold"/>
                <a:sym typeface="Roboto Bold"/>
              </a:rPr>
              <a:t>Suivi des mises à jour et évolutions des ERP utilisés par les concessionnaires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337172">
            <a:off x="9092092" y="1939261"/>
            <a:ext cx="9281328" cy="9834520"/>
          </a:xfrm>
          <a:custGeom>
            <a:avLst/>
            <a:gdLst/>
            <a:ahLst/>
            <a:cxnLst/>
            <a:rect r="r" b="b" t="t" l="l"/>
            <a:pathLst>
              <a:path h="9834520" w="9281328">
                <a:moveTo>
                  <a:pt x="0" y="0"/>
                </a:moveTo>
                <a:lnTo>
                  <a:pt x="9281327" y="0"/>
                </a:lnTo>
                <a:lnTo>
                  <a:pt x="9281327" y="9834519"/>
                </a:lnTo>
                <a:lnTo>
                  <a:pt x="0" y="98345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23162">
            <a:off x="9560830" y="1995925"/>
            <a:ext cx="7759945" cy="7759945"/>
          </a:xfrm>
          <a:custGeom>
            <a:avLst/>
            <a:gdLst/>
            <a:ahLst/>
            <a:cxnLst/>
            <a:rect r="r" b="b" t="t" l="l"/>
            <a:pathLst>
              <a:path h="7759945" w="7759945">
                <a:moveTo>
                  <a:pt x="0" y="0"/>
                </a:moveTo>
                <a:lnTo>
                  <a:pt x="7759945" y="0"/>
                </a:lnTo>
                <a:lnTo>
                  <a:pt x="7759945" y="7759945"/>
                </a:lnTo>
                <a:lnTo>
                  <a:pt x="0" y="775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62560" y="3703745"/>
            <a:ext cx="6203930" cy="460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49"/>
              </a:lnSpc>
            </a:pPr>
            <a:r>
              <a:rPr lang="en-US" sz="2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Compétences techniques</a:t>
            </a:r>
          </a:p>
          <a:p>
            <a:pPr algn="just">
              <a:lnSpc>
                <a:spcPts val="3150"/>
              </a:lnSpc>
            </a:pPr>
            <a:r>
              <a:rPr lang="en-US" sz="2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Admi</a:t>
            </a:r>
            <a:r>
              <a:rPr lang="en-US" sz="2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nistration Active Directory, gestion réseau, sécurité informatique.</a:t>
            </a:r>
          </a:p>
          <a:p>
            <a:pPr algn="just">
              <a:lnSpc>
                <a:spcPts val="3150"/>
              </a:lnSpc>
            </a:pPr>
            <a:r>
              <a:rPr lang="en-US" sz="2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Configuration d’équipements informatiques (switch, firewall, wifi)</a:t>
            </a:r>
          </a:p>
          <a:p>
            <a:pPr algn="just">
              <a:lnSpc>
                <a:spcPts val="3150"/>
              </a:lnSpc>
            </a:pPr>
          </a:p>
          <a:p>
            <a:pPr algn="just">
              <a:lnSpc>
                <a:spcPts val="4049"/>
              </a:lnSpc>
            </a:pPr>
            <a:r>
              <a:rPr lang="en-US" sz="2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Compétences relationnelles</a:t>
            </a:r>
          </a:p>
          <a:p>
            <a:pPr algn="just">
              <a:lnSpc>
                <a:spcPts val="3150"/>
              </a:lnSpc>
            </a:pPr>
            <a:r>
              <a:rPr lang="en-US" sz="2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Commun</a:t>
            </a:r>
            <a:r>
              <a:rPr lang="en-US" sz="2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ication avec les utilisateurs.</a:t>
            </a:r>
          </a:p>
          <a:p>
            <a:pPr algn="just">
              <a:lnSpc>
                <a:spcPts val="3150"/>
              </a:lnSpc>
            </a:pPr>
            <a:r>
              <a:rPr lang="en-US" sz="2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Analyse et résolution de problèmes techniques.</a:t>
            </a:r>
          </a:p>
          <a:p>
            <a:pPr algn="just">
              <a:lnSpc>
                <a:spcPts val="3150"/>
              </a:lnSpc>
            </a:pPr>
          </a:p>
          <a:p>
            <a:pPr algn="just">
              <a:lnSpc>
                <a:spcPts val="315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683650" y="1536895"/>
            <a:ext cx="9826869" cy="1583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0"/>
              </a:lnSpc>
            </a:pPr>
            <a:r>
              <a:rPr lang="en-US" b="true" sz="6100">
                <a:solidFill>
                  <a:srgbClr val="231F20"/>
                </a:solidFill>
                <a:latin typeface="Atma Bold"/>
                <a:ea typeface="Atma Bold"/>
                <a:cs typeface="Atma Bold"/>
                <a:sym typeface="Atma Bold"/>
              </a:rPr>
              <a:t>COMPÉTENCES ACQUISES ET PERSPECTIVES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01231" y="5162550"/>
            <a:ext cx="5269158" cy="2815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6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Objectif professionnel</a:t>
            </a:r>
          </a:p>
          <a:p>
            <a:pPr algn="just">
              <a:lnSpc>
                <a:spcPts val="231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Dév</a:t>
            </a:r>
            <a:r>
              <a:rPr lang="en-US" sz="2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elopper davantage mes compétences en cybersécurité</a:t>
            </a:r>
          </a:p>
          <a:p>
            <a:pPr algn="just">
              <a:lnSpc>
                <a:spcPts val="2969"/>
              </a:lnSpc>
              <a:spcBef>
                <a:spcPct val="0"/>
              </a:spcBef>
            </a:pPr>
          </a:p>
          <a:p>
            <a:pPr algn="just">
              <a:lnSpc>
                <a:spcPts val="2969"/>
              </a:lnSpc>
              <a:spcBef>
                <a:spcPct val="0"/>
              </a:spcBef>
            </a:pPr>
          </a:p>
          <a:p>
            <a:pPr algn="just">
              <a:lnSpc>
                <a:spcPts val="2969"/>
              </a:lnSpc>
              <a:spcBef>
                <a:spcPct val="0"/>
              </a:spcBef>
            </a:pPr>
          </a:p>
          <a:p>
            <a:pPr algn="just">
              <a:lnSpc>
                <a:spcPts val="2969"/>
              </a:lnSpc>
              <a:spcBef>
                <a:spcPct val="0"/>
              </a:spcBef>
            </a:pPr>
          </a:p>
          <a:p>
            <a:pPr algn="just">
              <a:lnSpc>
                <a:spcPts val="296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C6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36569" y="1427017"/>
            <a:ext cx="7014862" cy="7432966"/>
          </a:xfrm>
          <a:custGeom>
            <a:avLst/>
            <a:gdLst/>
            <a:ahLst/>
            <a:cxnLst/>
            <a:rect r="r" b="b" t="t" l="l"/>
            <a:pathLst>
              <a:path h="7432966" w="7014862">
                <a:moveTo>
                  <a:pt x="0" y="0"/>
                </a:moveTo>
                <a:lnTo>
                  <a:pt x="7014862" y="0"/>
                </a:lnTo>
                <a:lnTo>
                  <a:pt x="7014862" y="7432966"/>
                </a:lnTo>
                <a:lnTo>
                  <a:pt x="0" y="743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00590" y="8300218"/>
            <a:ext cx="384873" cy="645490"/>
          </a:xfrm>
          <a:custGeom>
            <a:avLst/>
            <a:gdLst/>
            <a:ahLst/>
            <a:cxnLst/>
            <a:rect r="r" b="b" t="t" l="l"/>
            <a:pathLst>
              <a:path h="645490" w="384873">
                <a:moveTo>
                  <a:pt x="0" y="0"/>
                </a:moveTo>
                <a:lnTo>
                  <a:pt x="384874" y="0"/>
                </a:lnTo>
                <a:lnTo>
                  <a:pt x="384874" y="645490"/>
                </a:lnTo>
                <a:lnTo>
                  <a:pt x="0" y="6454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506176">
            <a:off x="4590443" y="4805919"/>
            <a:ext cx="681981" cy="675161"/>
          </a:xfrm>
          <a:custGeom>
            <a:avLst/>
            <a:gdLst/>
            <a:ahLst/>
            <a:cxnLst/>
            <a:rect r="r" b="b" t="t" l="l"/>
            <a:pathLst>
              <a:path h="675161" w="681981">
                <a:moveTo>
                  <a:pt x="0" y="0"/>
                </a:moveTo>
                <a:lnTo>
                  <a:pt x="681981" y="0"/>
                </a:lnTo>
                <a:lnTo>
                  <a:pt x="681981" y="675162"/>
                </a:lnTo>
                <a:lnTo>
                  <a:pt x="0" y="6751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82907" y="1862222"/>
            <a:ext cx="680965" cy="680965"/>
          </a:xfrm>
          <a:custGeom>
            <a:avLst/>
            <a:gdLst/>
            <a:ahLst/>
            <a:cxnLst/>
            <a:rect r="r" b="b" t="t" l="l"/>
            <a:pathLst>
              <a:path h="680965" w="680965">
                <a:moveTo>
                  <a:pt x="0" y="0"/>
                </a:moveTo>
                <a:lnTo>
                  <a:pt x="680965" y="0"/>
                </a:lnTo>
                <a:lnTo>
                  <a:pt x="680965" y="680965"/>
                </a:lnTo>
                <a:lnTo>
                  <a:pt x="0" y="6809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10629" y="3924656"/>
            <a:ext cx="7466741" cy="172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87"/>
              </a:lnSpc>
            </a:pPr>
            <a:r>
              <a:rPr lang="en-US" b="true" sz="12987">
                <a:solidFill>
                  <a:srgbClr val="231F20"/>
                </a:solidFill>
                <a:latin typeface="Atma Bold"/>
                <a:ea typeface="Atma Bold"/>
                <a:cs typeface="Atma Bold"/>
                <a:sym typeface="Atma Bold"/>
              </a:rPr>
              <a:t>MERCI 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62748" y="6660650"/>
            <a:ext cx="656250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b="true" sz="2800">
                <a:solidFill>
                  <a:srgbClr val="231F20"/>
                </a:solidFill>
                <a:latin typeface="Atma Bold"/>
                <a:ea typeface="Atma Bold"/>
                <a:cs typeface="Atma Bold"/>
                <a:sym typeface="Atma Bold"/>
              </a:rPr>
              <a:t>Constant Foos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092899"/>
            <a:ext cx="4475018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231F20"/>
                </a:solidFill>
                <a:latin typeface="Atma Bold"/>
                <a:ea typeface="Atma Bold"/>
                <a:cs typeface="Atma Bold"/>
                <a:sym typeface="Atma Bold"/>
              </a:rPr>
              <a:t>IFIDE Sup-Formation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10629" y="6004571"/>
            <a:ext cx="7927430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  <a:spcBef>
                <a:spcPct val="0"/>
              </a:spcBef>
            </a:pPr>
            <a:r>
              <a:rPr lang="en-US" b="true" sz="2699" u="sng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  <a:hlinkClick r:id="rId10" tooltip="https://goubox068.github.io/portfolio-bts-sio/"/>
              </a:rPr>
              <a:t>https://goubox068.github.io/portfolio-bts-sio/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DAHDLM2gLTM</dc:identifier>
  <dcterms:modified xsi:type="dcterms:W3CDTF">2011-08-01T06:04:30Z</dcterms:modified>
  <cp:revision>1</cp:revision>
  <dc:title>Copie de Copie de IFIDE - Sup’Formation</dc:title>
</cp:coreProperties>
</file>